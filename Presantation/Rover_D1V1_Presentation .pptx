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Introduction. Assignment D1-V1. Planetary rover on a static graph, collecting samples within a battery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locations, directed edges. base is start and goal. site-C is farthest node. Rover carries one sample at a time — must return to base after each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Q1: the &gt;= precondition is the key — battery is a hard constraint. Q2: two processes run simultaneously. idle-drain means standing still costs charge. Event is world-triggered — planner cannot control when it fires.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Q1-P2: 16 steps not 18 — planner found waypoint1 route to site-C. Q2: all actions at time 0 is expected — ENHSP satisficing search. The key is |P|=1 |E|=1 showing processes and event are active.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challenge was Q2 memory — solved by simplifying. Key insight: Q2 is a different model, not just an extension. Limitations show understanding of what the model cannot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takeaways. Q1: numeric planning. Q2: continuous-time planning. ENHSP: the bridge. Keep it brief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288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36576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4864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73152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91440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109728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128016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146304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164592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182880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201168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219456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237744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56032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274320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92608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310896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29184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47472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65760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84048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402336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0624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38912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57200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5488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493776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./rover --mission D1-V1 --mode pddl+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7200" y="1115568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0F6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Planetary Rover</a:t>
            </a:r>
            <a:endParaRPr lang="en-US" sz="7000" dirty="0"/>
          </a:p>
        </p:txBody>
      </p:sp>
      <p:sp>
        <p:nvSpPr>
          <p:cNvPr id="32" name="Shape 30"/>
          <p:cNvSpPr/>
          <p:nvPr/>
        </p:nvSpPr>
        <p:spPr>
          <a:xfrm>
            <a:off x="502920" y="2331720"/>
            <a:ext cx="365760" cy="475488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2944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 Rover  ·  Static Environment  ·  PDDL &amp; PDDL+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029200" y="4041648"/>
            <a:ext cx="96012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0" y="41148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0" y="4343400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Overview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6053328" y="4041648"/>
            <a:ext cx="96012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53328" y="41148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53328" y="4343400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Choices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7077456" y="4041648"/>
            <a:ext cx="96012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77456" y="41148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077456" y="4343400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8101584" y="4041648"/>
            <a:ext cx="96012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101584" y="41148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101584" y="4343400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" y="481888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AI4Ro2 — Artificial Intelligence for Robotics 2  ·  University of Genova  ·  2025-26  ·  Amri Abdelouafi  S7708121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//  problem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02336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F6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Domain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114800" cy="3794760"/>
          </a:xfrm>
          <a:prstGeom prst="roundRect">
            <a:avLst>
              <a:gd name="adj" fmla="val 2410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4114800" cy="274320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24712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24712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124712"/>
            <a:ext cx="109728" cy="109728"/>
          </a:xfrm>
          <a:prstGeom prst="ellipse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101852"/>
            <a:ext cx="3337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scenario.pddl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Scenario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719072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wheeled rover on a planetary surface.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Navigates a finite directed graph of locations.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base — must collect samples &amp; return.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move costs battery. Capacity is limited.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fully static — known in advance.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004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B3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Objects &amp; Predicates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" y="34930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417320" y="3493008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location,  sample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5488" y="37581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Predicates: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417320" y="375818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at-rover,  connected,  sample-at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" y="40233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417320" y="40233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carrying,  delivered,  is-base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" y="42885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Fluents: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417320" y="4288536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battery-level,  move-cost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17720" y="1051560"/>
            <a:ext cx="4206240" cy="3794760"/>
          </a:xfrm>
          <a:prstGeom prst="roundRect">
            <a:avLst>
              <a:gd name="adj" fmla="val 241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17720" y="1051560"/>
            <a:ext cx="4206240" cy="274320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09160" y="1124712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92040" y="1124712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124712"/>
            <a:ext cx="109728" cy="109728"/>
          </a:xfrm>
          <a:prstGeom prst="ellipse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0" y="1101852"/>
            <a:ext cx="3429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map.pddl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00600" y="14173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Directed Graph — 4 locations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0" y="2103120"/>
            <a:ext cx="228600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6446520" y="1975104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19751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B3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0" y="2103120"/>
            <a:ext cx="0" cy="1463040"/>
          </a:xfrm>
          <a:prstGeom prst="line">
            <a:avLst/>
          </a:prstGeom>
          <a:noFill/>
          <a:ln w="19050">
            <a:solidFill>
              <a:srgbClr val="30363D"/>
            </a:solidFill>
            <a:prstDash val="sysDot"/>
          </a:ln>
        </p:spPr>
      </p:sp>
      <p:sp>
        <p:nvSpPr>
          <p:cNvPr id="32" name="Shape 30"/>
          <p:cNvSpPr/>
          <p:nvPr/>
        </p:nvSpPr>
        <p:spPr>
          <a:xfrm>
            <a:off x="5303520" y="2706624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0" y="27066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B3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772400" y="2103120"/>
            <a:ext cx="0" cy="1463040"/>
          </a:xfrm>
          <a:prstGeom prst="line">
            <a:avLst/>
          </a:prstGeom>
          <a:noFill/>
          <a:ln w="19050">
            <a:solidFill>
              <a:srgbClr val="30363D"/>
            </a:solidFill>
            <a:prstDash val="sysDot"/>
          </a:ln>
        </p:spPr>
      </p:sp>
      <p:sp>
        <p:nvSpPr>
          <p:cNvPr id="35" name="Shape 33"/>
          <p:cNvSpPr/>
          <p:nvPr/>
        </p:nvSpPr>
        <p:spPr>
          <a:xfrm>
            <a:off x="7589520" y="2706624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89520" y="27066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B3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86400" y="3566160"/>
            <a:ext cx="228600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ysDot"/>
          </a:ln>
        </p:spPr>
      </p:sp>
      <p:sp>
        <p:nvSpPr>
          <p:cNvPr id="38" name="Shape 36"/>
          <p:cNvSpPr/>
          <p:nvPr/>
        </p:nvSpPr>
        <p:spPr>
          <a:xfrm>
            <a:off x="6446520" y="3438144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46520" y="34381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B3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285232" y="1901952"/>
            <a:ext cx="402336" cy="402336"/>
          </a:xfrm>
          <a:prstGeom prst="ellipse">
            <a:avLst/>
          </a:prstGeom>
          <a:solidFill>
            <a:srgbClr val="E3B341">
              <a:alpha val="80000"/>
            </a:srgbClr>
          </a:solidFill>
          <a:ln w="25400">
            <a:solidFill>
              <a:srgbClr val="E3B341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983480" y="23500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571232" y="1901952"/>
            <a:ext cx="402336" cy="402336"/>
          </a:xfrm>
          <a:prstGeom prst="ellipse">
            <a:avLst/>
          </a:prstGeom>
          <a:solidFill>
            <a:srgbClr val="58A6FF">
              <a:alpha val="80000"/>
            </a:srgbClr>
          </a:solidFill>
          <a:ln w="25400">
            <a:solidFill>
              <a:srgbClr val="58A6FF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269480" y="23500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site-A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85232" y="3364992"/>
            <a:ext cx="402336" cy="402336"/>
          </a:xfrm>
          <a:prstGeom prst="ellipse">
            <a:avLst/>
          </a:prstGeom>
          <a:solidFill>
            <a:srgbClr val="58A6FF">
              <a:alpha val="80000"/>
            </a:srgbClr>
          </a:solidFill>
          <a:ln w="25400">
            <a:solidFill>
              <a:srgbClr val="58A6FF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4983480" y="3813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site-B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1232" y="3364992"/>
            <a:ext cx="402336" cy="402336"/>
          </a:xfrm>
          <a:prstGeom prst="ellipse">
            <a:avLst/>
          </a:prstGeom>
          <a:solidFill>
            <a:srgbClr val="39D353">
              <a:alpha val="80000"/>
            </a:srgbClr>
          </a:solidFill>
          <a:ln w="25400">
            <a:solidFill>
              <a:srgbClr val="39D35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7269480" y="38130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site-C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00600" y="43159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all samples delivered  ·  rover back at base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//  design choices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02336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F6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PDDL / PDDL+ Modelling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251960" cy="3794760"/>
          </a:xfrm>
          <a:prstGeom prst="roundRect">
            <a:avLst>
              <a:gd name="adj" fmla="val 2410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4251960" cy="274320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24712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24712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124712"/>
            <a:ext cx="109728" cy="109728"/>
          </a:xfrm>
          <a:prstGeom prst="ellipse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101852"/>
            <a:ext cx="3474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 domain.pddl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38912" y="140817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;; energy is a hard constraint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38912" y="160934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(:action move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38912" y="181051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:precondition (and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38912" y="201168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(at-rover ?from)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8912" y="2212848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(connected ?from ?to)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38912" y="241401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3B3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(&gt;= (battery-level)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38912" y="261518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3B3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(move-cost ?from ?to)))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38912" y="281635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:effect (and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38912" y="301752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(not (at-rover ?from))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8912" y="3218688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(at-rover ?to)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8912" y="341985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(decrease (battery-level)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8912" y="3621024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(move-cost ?from ?to))))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8912" y="3822192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8912" y="4023360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;; 3 actions total: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38912" y="4224528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(:action collect-sample ...)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8912" y="4425696"/>
            <a:ext cx="4005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(:action deliver-sample ...)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1051560"/>
            <a:ext cx="4069080" cy="3794760"/>
          </a:xfrm>
          <a:prstGeom prst="roundRect">
            <a:avLst>
              <a:gd name="adj" fmla="val 2410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1051560"/>
            <a:ext cx="4069080" cy="274320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1124712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0" y="1124712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212080" y="1124712"/>
            <a:ext cx="109728" cy="109728"/>
          </a:xfrm>
          <a:prstGeom prst="ellipse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40680" y="1101852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 domain_plus.pddl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892040" y="1408176"/>
            <a:ext cx="37947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010912" y="1499616"/>
            <a:ext cx="822960" cy="228600"/>
          </a:xfrm>
          <a:prstGeom prst="roundRect">
            <a:avLst>
              <a:gd name="adj" fmla="val 16000"/>
            </a:avLst>
          </a:prstGeom>
          <a:solidFill>
            <a:srgbClr val="58A6FF">
              <a:alpha val="75000"/>
            </a:srgbClr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10912" y="15087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0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897880" y="1481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idle-drain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10912" y="17556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(decrease (battery-level)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(* #t (idle-drain-rate)))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589520" y="1481328"/>
            <a:ext cx="18288" cy="86868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62672" y="160934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 — sensors, comms, thermal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92040" y="2523744"/>
            <a:ext cx="37947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2700">
            <a:solidFill>
              <a:srgbClr val="E3B341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010912" y="2615184"/>
            <a:ext cx="822960" cy="228600"/>
          </a:xfrm>
          <a:prstGeom prst="roundRect">
            <a:avLst>
              <a:gd name="adj" fmla="val 16000"/>
            </a:avLst>
          </a:prstGeom>
          <a:solidFill>
            <a:srgbClr val="E3B341">
              <a:alpha val="75000"/>
            </a:srgbClr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10912" y="2624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0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897880" y="25968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B3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move-drain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010912" y="287121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(decrease (battery-level)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(* #t (move-drain-rate)))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589520" y="2596896"/>
            <a:ext cx="18288" cy="868680"/>
          </a:xfrm>
          <a:prstGeom prst="rect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62672" y="2724912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while rover-active flag set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92040" y="3639312"/>
            <a:ext cx="37947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010912" y="3730752"/>
            <a:ext cx="822960" cy="228600"/>
          </a:xfrm>
          <a:prstGeom prst="roundRect">
            <a:avLst>
              <a:gd name="adj" fmla="val 16000"/>
            </a:avLst>
          </a:prstGeom>
          <a:solidFill>
            <a:srgbClr val="F85149">
              <a:alpha val="75000"/>
            </a:srgbClr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10912" y="3739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0C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897880" y="37124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battery-critical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010912" y="398678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(and (critical-battery)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(not (system-ok)))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7589520" y="3712464"/>
            <a:ext cx="18288" cy="868680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62672" y="3840480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at threshold — shuts down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//  live demo  /  plan output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02336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F6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 Output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4114800" cy="274320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24712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24712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124712"/>
            <a:ext cx="109728" cy="109728"/>
          </a:xfrm>
          <a:prstGeom prst="ellipse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101852"/>
            <a:ext cx="3337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 problem1_simple  bat=60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38912" y="1408176"/>
            <a:ext cx="3858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found plan: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1645920"/>
            <a:ext cx="3858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 (move base site-A)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" y="1883664"/>
            <a:ext cx="3858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(collect-sample sample1)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8912" y="2121408"/>
            <a:ext cx="3858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(move site-A base)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38912" y="2359152"/>
            <a:ext cx="3858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(deliver-sample sample1)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" y="2596896"/>
            <a:ext cx="3858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8912" y="2834640"/>
            <a:ext cx="3858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plan-length: 4  [OK]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8912" y="3072384"/>
            <a:ext cx="3858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expanded nodes: 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051560"/>
            <a:ext cx="4206240" cy="228600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051560"/>
            <a:ext cx="4206240" cy="274320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124712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37760" y="1124712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20640" y="1124712"/>
            <a:ext cx="109728" cy="109728"/>
          </a:xfrm>
          <a:prstGeom prst="ellipse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49240" y="1101852"/>
            <a:ext cx="3429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 problem2_nontrivial  bat=130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28032" y="140817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found plan (16 steps):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28032" y="164592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trip 1 -&gt; sample1 @ site-A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28032" y="188366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B3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steps 0-3   (move+collect+deliver)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28032" y="212140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trip 2 -&gt; sample2 @ site-B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28032" y="235915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B3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steps 4-9   (via site-A)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28032" y="259689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trip 3 -&gt; sample3 @ site-C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28032" y="28346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B3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steps 10-15 (via waypoint1)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28032" y="307238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plan-length: 16  [OK]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" y="3520440"/>
            <a:ext cx="4114800" cy="1508760"/>
          </a:xfrm>
          <a:prstGeom prst="roundRect">
            <a:avLst>
              <a:gd name="adj" fmla="val 6061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74320" y="3520440"/>
            <a:ext cx="4114800" cy="274320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3593592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3593592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3593592"/>
            <a:ext cx="109728" cy="109728"/>
          </a:xfrm>
          <a:prstGeom prst="ellipse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0120" y="3570732"/>
            <a:ext cx="3337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 problem1_idle  bat=80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38912" y="38587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|P|=1  |E|=1  (process + event active)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38912" y="41148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completes  elapsed=0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38912" y="437083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 (move base site-A)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8912" y="462686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 (collect-sample sample1)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8912" y="48828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 (move site-A base)  deliver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63440" y="3520440"/>
            <a:ext cx="4206240" cy="1508760"/>
          </a:xfrm>
          <a:prstGeom prst="roundRect">
            <a:avLst>
              <a:gd name="adj" fmla="val 6061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63440" y="3520440"/>
            <a:ext cx="4206240" cy="274320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54880" y="3593592"/>
            <a:ext cx="109728" cy="10972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37760" y="3593592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20640" y="3593592"/>
            <a:ext cx="109728" cy="109728"/>
          </a:xfrm>
          <a:prstGeom prst="ellipse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49240" y="3570732"/>
            <a:ext cx="3429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 problem2_timing  bat=80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828032" y="385876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|P|=1  |E|=1  threshold=5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828032" y="41148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plan-length: 8  [OK]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828032" y="437083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 (move base site-B) collect s2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828032" y="462686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 (move site-B base) deliver s2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828032" y="48828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6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 (move base site-A) collect+deliver s1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//  reflection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65760" y="402336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F6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Limitations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206240" cy="1508760"/>
          </a:xfrm>
          <a:prstGeom prst="roundRect">
            <a:avLst>
              <a:gd name="adj" fmla="val 6061"/>
            </a:avLst>
          </a:prstGeom>
          <a:solidFill>
            <a:srgbClr val="161B22"/>
          </a:solidFill>
          <a:ln w="12700">
            <a:solidFill>
              <a:srgbClr val="E3B341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371600"/>
            <a:ext cx="475488" cy="475488"/>
          </a:xfrm>
          <a:prstGeom prst="ellipse">
            <a:avLst/>
          </a:prstGeom>
          <a:solidFill>
            <a:srgbClr val="E3B341">
              <a:alpha val="20000"/>
            </a:srgbClr>
          </a:solidFill>
          <a:ln w="12700">
            <a:solidFill>
              <a:srgbClr val="E3B34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39903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4128" y="1188720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B3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Challenge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24128" y="150876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Calibrating Q2 problems. The continuous drain combined with a large state space caused memory exhaustion. Solved by simplifying the map and reducing battery values while preserving the key insight.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74320" y="2743200"/>
            <a:ext cx="4206240" cy="1508760"/>
          </a:xfrm>
          <a:prstGeom prst="roundRect">
            <a:avLst>
              <a:gd name="adj" fmla="val 6061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3063240"/>
            <a:ext cx="475488" cy="475488"/>
          </a:xfrm>
          <a:prstGeom prst="ellipse">
            <a:avLst/>
          </a:prstGeom>
          <a:solidFill>
            <a:srgbClr val="F85149">
              <a:alpha val="20000"/>
            </a:srgbClr>
          </a:solidFill>
          <a:ln w="12700">
            <a:solidFill>
              <a:srgbClr val="F85149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309067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24128" y="2880360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I'd Do Differently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24128" y="320040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recharge action for Q1 and a solar-charging process for Q2. Also use durative actions (via a compatible planner) to make move time explicit and show timing effects more clearly.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709160" y="1051560"/>
            <a:ext cx="4206240" cy="1508760"/>
          </a:xfrm>
          <a:prstGeom prst="roundRect">
            <a:avLst>
              <a:gd name="adj" fmla="val 6061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46320" y="1371600"/>
            <a:ext cx="475488" cy="475488"/>
          </a:xfrm>
          <a:prstGeom prst="ellipse">
            <a:avLst/>
          </a:prstGeom>
          <a:solidFill>
            <a:srgbClr val="58A6FF">
              <a:alpha val="20000"/>
            </a:srgbClr>
          </a:solidFill>
          <a:ln w="12700">
            <a:solidFill>
              <a:srgbClr val="58A6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3752" y="139903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58968" y="1188720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458968" y="150876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jump from Q1 to Q2 is not just syntax — it is a different model of reality. In Q1 time does not exist. In Q2 every second counts. The critical event makes that concrete.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709160" y="2743200"/>
            <a:ext cx="4206240" cy="1508760"/>
          </a:xfrm>
          <a:prstGeom prst="roundRect">
            <a:avLst>
              <a:gd name="adj" fmla="val 6061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46320" y="3063240"/>
            <a:ext cx="475488" cy="475488"/>
          </a:xfrm>
          <a:prstGeom prst="ellipse">
            <a:avLst/>
          </a:prstGeom>
          <a:solidFill>
            <a:srgbClr val="8B949E">
              <a:alpha val="20000"/>
            </a:srgbClr>
          </a:solidFill>
          <a:ln w="12700">
            <a:solidFill>
              <a:srgbClr val="8B949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3090672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58968" y="2880360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94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458968" y="320040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geometry · no uncertainty · no recharge · single sample capacity · instantaneous moves · linear drain only · task-motion gap (collect-sample hides instrument deployment)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288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36576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4864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73152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91440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109728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128016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146304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164592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182880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201168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219456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237744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56032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274320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292608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310896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29184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347472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365760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84048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402336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0624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38912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57200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5488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4937760"/>
            <a:ext cx="9144000" cy="64008"/>
          </a:xfrm>
          <a:prstGeom prst="rect">
            <a:avLst/>
          </a:prstGeom>
          <a:solidFill>
            <a:srgbClr val="39D353">
              <a:alpha val="3000"/>
            </a:srgbClr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011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exit(0)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F6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4000" dirty="0"/>
          </a:p>
        </p:txBody>
      </p:sp>
      <p:sp>
        <p:nvSpPr>
          <p:cNvPr id="32" name="Shape 30"/>
          <p:cNvSpPr/>
          <p:nvPr/>
        </p:nvSpPr>
        <p:spPr>
          <a:xfrm>
            <a:off x="274320" y="1298448"/>
            <a:ext cx="8595360" cy="1024128"/>
          </a:xfrm>
          <a:prstGeom prst="roundRect">
            <a:avLst>
              <a:gd name="adj" fmla="val 892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84048" y="146304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3000" dirty="0"/>
          </a:p>
        </p:txBody>
      </p:sp>
      <p:sp>
        <p:nvSpPr>
          <p:cNvPr id="34" name="Shape 32"/>
          <p:cNvSpPr/>
          <p:nvPr/>
        </p:nvSpPr>
        <p:spPr>
          <a:xfrm>
            <a:off x="1115568" y="1389888"/>
            <a:ext cx="18288" cy="841248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61872" y="138988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as a hard numeric constraint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61872" y="17373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Precondition check on battery-level forces the planner to reason about energy. Q1-P1: 4 steps. Q1-P2: 16 steps across 3 trips — planner routes optimally.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74320" y="2487168"/>
            <a:ext cx="8595360" cy="1024128"/>
          </a:xfrm>
          <a:prstGeom prst="roundRect">
            <a:avLst>
              <a:gd name="adj" fmla="val 8929"/>
            </a:avLst>
          </a:prstGeom>
          <a:solidFill>
            <a:srgbClr val="161B22"/>
          </a:solidFill>
          <a:ln w="19050">
            <a:solidFill>
              <a:srgbClr val="39D35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384048" y="26517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3000" dirty="0"/>
          </a:p>
        </p:txBody>
      </p:sp>
      <p:sp>
        <p:nvSpPr>
          <p:cNvPr id="39" name="Shape 37"/>
          <p:cNvSpPr/>
          <p:nvPr/>
        </p:nvSpPr>
        <p:spPr>
          <a:xfrm>
            <a:off x="1115568" y="2578608"/>
            <a:ext cx="18288" cy="841248"/>
          </a:xfrm>
          <a:prstGeom prst="rect">
            <a:avLst/>
          </a:prstGeom>
          <a:solidFill>
            <a:srgbClr val="39D353"/>
          </a:solidFill>
          <a:ln w="12700">
            <a:solidFill>
              <a:srgbClr val="39D3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61872" y="257860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D3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Continuous time changes feasibility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261872" y="292608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drain means every second costs charge. Critical event is a hard shutdown. Processes and event coordinate through shared (system-ok) predicate.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274320" y="3675888"/>
            <a:ext cx="8595360" cy="1024128"/>
          </a:xfrm>
          <a:prstGeom prst="roundRect">
            <a:avLst>
              <a:gd name="adj" fmla="val 8929"/>
            </a:avLst>
          </a:prstGeom>
          <a:solidFill>
            <a:srgbClr val="161B22"/>
          </a:solidFill>
          <a:ln w="19050">
            <a:solidFill>
              <a:srgbClr val="BC8CFF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4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84048" y="38404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</a:t>
            </a:r>
            <a:endParaRPr lang="en-US" sz="3000" dirty="0"/>
          </a:p>
        </p:txBody>
      </p:sp>
      <p:sp>
        <p:nvSpPr>
          <p:cNvPr id="44" name="Shape 42"/>
          <p:cNvSpPr/>
          <p:nvPr/>
        </p:nvSpPr>
        <p:spPr>
          <a:xfrm>
            <a:off x="1115568" y="3767328"/>
            <a:ext cx="18288" cy="841248"/>
          </a:xfrm>
          <a:prstGeom prst="rect">
            <a:avLst/>
          </a:prstGeom>
          <a:solidFill>
            <a:srgbClr val="BC8CFF"/>
          </a:solidFill>
          <a:ln w="12700">
            <a:solidFill>
              <a:srgbClr val="BC8C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261872" y="376732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C8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ENHSP — the right tool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1261872" y="411480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:numeric-fluents (Q1) and PDDL+ processes &amp; events (Q2). Standard planners cannot handle either. Run with -planner sat-hadd.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D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_ questions welcome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2026-06-18T22:59:56Z</dcterms:created>
  <dcterms:modified xsi:type="dcterms:W3CDTF">2026-06-18T22:59:56Z</dcterms:modified>
</cp:coreProperties>
</file>